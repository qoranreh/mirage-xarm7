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success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603504"/>
            <a:ext cx="2651760" cy="310896"/>
          </a:xfrm>
          <a:prstGeom prst="roundRect">
            <a:avLst/>
          </a:prstGeom>
          <a:solidFill>
            <a:srgbClr val="142134"/>
          </a:solidFill>
          <a:ln w="12700">
            <a:solidFill>
              <a:srgbClr val="2C3A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608076"/>
            <a:ext cx="25603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914D"/>
                </a:solidFill>
                <a:latin typeface="Noto Sans CJK KR"/>
              </a:rPr>
              <a:t>MIRAGE · CROSS-EMBODIMENT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59893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5F7FB"/>
                </a:solidFill>
                <a:latin typeface="Noto Sans CJK KR"/>
              </a:rPr>
              <a:t>Panda → xArm7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61264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F5F7FB"/>
                </a:solidFill>
                <a:latin typeface="Noto Sans CJK KR"/>
              </a:rPr>
              <a:t>Simulation Policy Transfer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2926080"/>
            <a:ext cx="676656" cy="54864"/>
          </a:xfrm>
          <a:prstGeom prst="rect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82112"/>
            <a:ext cx="5349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DDE5F0"/>
                </a:solidFill>
                <a:latin typeface="Noto Sans CJK KR"/>
              </a:rPr>
              <a:t>현재 실험 세팅 · 전이 파이프라인 · 정량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30752"/>
            <a:ext cx="5760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96A3B7"/>
                </a:solidFill>
                <a:latin typeface="Noto Sans CJK KR"/>
              </a:rPr>
              <a:t>PickPlaceCan + Lift  |  Robosuite 1.4.1  |  low-dimensional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9784"/>
            <a:ext cx="3794760" cy="795528"/>
          </a:xfrm>
          <a:prstGeom prst="roundRect">
            <a:avLst/>
          </a:prstGeom>
          <a:solidFill>
            <a:srgbClr val="10182A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85232"/>
            <a:ext cx="33649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D98A"/>
                </a:solidFill>
                <a:latin typeface="Noto Sans CJK KR"/>
              </a:rPr>
              <a:t>TARGET SUCCESS  </a:t>
            </a:r>
            <a:r>
              <a:rPr sz="1400" b="1">
                <a:solidFill>
                  <a:srgbClr val="F5F7FB"/>
                </a:solidFill>
                <a:latin typeface="Noto Sans CJK KR"/>
              </a:rPr>
              <a:t>PickPlaceCan step 116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596128"/>
            <a:ext cx="3200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96A3B7"/>
                </a:solidFill>
                <a:latin typeface="Noto Sans CJK KR"/>
              </a:rPr>
              <a:t>2026.08.10 · local working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한 줄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정책 실행 주체와 성공 판정 주체를 분리해 xArm7 전이를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99616"/>
            <a:ext cx="4617720" cy="11338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Noto Sans CJK KR"/>
              </a:rPr>
              <a:t>정책은 Panda에서 실행하고,
성공은 xArm7에서 판정했다.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770632"/>
            <a:ext cx="462686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DDE5F0"/>
                </a:solidFill>
                <a:latin typeface="Noto Sans CJK KR"/>
              </a:rPr>
              <a:t>동일한 저차원 체크포인트 출력을 Panda 시뮬레이터에서 1 step 실행한 뒤,
달성 pose를 변환·검증하여 xArm7이 절대 pose로 추종한다.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4041648"/>
            <a:ext cx="4617720" cy="1152144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33672"/>
            <a:ext cx="4160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20" b="1">
                <a:solidFill>
                  <a:srgbClr val="FF914D"/>
                </a:solidFill>
                <a:latin typeface="Noto Sans CJK KR"/>
              </a:rPr>
              <a:t>의미  </a:t>
            </a:r>
            <a:r>
              <a:rPr sz="1320" b="1">
                <a:solidFill>
                  <a:srgbClr val="F5F7FB"/>
                </a:solidFill>
                <a:latin typeface="Noto Sans CJK KR"/>
              </a:rPr>
              <a:t>로봇 형태가 달라도 task-space pose contract로 실행 경로를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681728"/>
            <a:ext cx="4133087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현재 결과는 실제 로봇이 아닌 시뮬레이션 검증이다.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463040"/>
            <a:ext cx="1874519" cy="3337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1463040"/>
            <a:ext cx="64008" cy="3337560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1645920"/>
            <a:ext cx="149047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9D98A"/>
                </a:solidFill>
                <a:latin typeface="Noto Sans CJK KR"/>
              </a:rPr>
              <a:t>1 /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146303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PickPlaceCan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70048"/>
            <a:ext cx="1463039" cy="1984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target step 116
contact-relaxed steps 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1463040"/>
            <a:ext cx="1874519" cy="3337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54112" y="1463040"/>
            <a:ext cx="64008" cy="3337560"/>
          </a:xfrm>
          <a:prstGeom prst="rect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645920"/>
            <a:ext cx="149047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914D"/>
                </a:solidFill>
                <a:latin typeface="Noto Sans CJK KR"/>
              </a:rPr>
              <a:t>4 /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2286000"/>
            <a:ext cx="146303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2670048"/>
            <a:ext cx="1463039" cy="1984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seeds 0, 1, 3, 7
target step 41–57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38944" y="1463040"/>
            <a:ext cx="1755648" cy="3337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38944" y="1463040"/>
            <a:ext cx="64008" cy="3337560"/>
          </a:xfrm>
          <a:prstGeom prst="rect">
            <a:avLst/>
          </a:prstGeom>
          <a:solidFill>
            <a:srgbClr val="5B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4976" y="1645920"/>
            <a:ext cx="1371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BB7FF"/>
                </a:solidFill>
                <a:latin typeface="Noto Sans CJK KR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4" y="2286000"/>
            <a:ext cx="13441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실패 이벤트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2670048"/>
            <a:ext cx="1344168" cy="1984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timeout 0
iteration limit 0
rejection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5074920"/>
            <a:ext cx="5925312" cy="658368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A7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71032" y="5230368"/>
            <a:ext cx="5349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39D98A"/>
                </a:solidFill>
                <a:latin typeface="Noto Sans CJK KR"/>
              </a:rPr>
              <a:t>검증  </a:t>
            </a:r>
            <a:r>
              <a:rPr sz="1450" b="1">
                <a:solidFill>
                  <a:srgbClr val="F5F7FB"/>
                </a:solidFill>
                <a:latin typeface="Noto Sans CJK KR"/>
              </a:rPr>
              <a:t>현재 작업 트리 회귀 테스트 87 passed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sources: task-aware rollout reports + pytest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실험 세팅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source policy와 target control environment를 완전히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4754880" cy="418795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A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700784"/>
            <a:ext cx="1005840" cy="310896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B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05356"/>
            <a:ext cx="91440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39D98A"/>
                </a:solidFill>
                <a:latin typeface="Noto Sans CJK KR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39696"/>
            <a:ext cx="39776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F7FB"/>
                </a:solidFill>
                <a:latin typeface="Noto Sans CJK KR"/>
              </a:rPr>
              <a:t>Franka Emika Panda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78608"/>
            <a:ext cx="39776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6A3B7"/>
                </a:solidFill>
                <a:latin typeface="Noto Sans CJK KR"/>
              </a:rPr>
              <a:t>Robosuite robot id: Panda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90672"/>
            <a:ext cx="3977639" cy="1993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저차원 robomimic checkpoint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action: [Δp(3), Δrotvec(3), gripper]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OSC_POSE · control_delta=true · 20 Hz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checkpoint action + 1 physics step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camera / offscreen rendering disabled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57216"/>
            <a:ext cx="1581912" cy="310896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61788"/>
            <a:ext cx="149047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9D98A"/>
                </a:solidFill>
                <a:latin typeface="Noto Sans CJK KR"/>
              </a:rPr>
              <a:t>panda_sim_world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3992" y="1463040"/>
            <a:ext cx="4754880" cy="418795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4B3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59168" y="1700784"/>
            <a:ext cx="1024128" cy="310896"/>
          </a:xfrm>
          <a:prstGeom prst="roundRect">
            <a:avLst/>
          </a:prstGeom>
          <a:solidFill>
            <a:srgbClr val="4A2B22"/>
          </a:solidFill>
          <a:ln w="12700">
            <a:solidFill>
              <a:srgbClr val="7E4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705356"/>
            <a:ext cx="932688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914D"/>
                </a:solidFill>
                <a:latin typeface="Noto Sans CJK KR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139696"/>
            <a:ext cx="39776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F7FB"/>
                </a:solidFill>
                <a:latin typeface="Noto Sans CJK KR"/>
              </a:rPr>
              <a:t>xArm7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578608"/>
            <a:ext cx="39776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6A3B7"/>
                </a:solidFill>
                <a:latin typeface="Noto Sans CJK KR"/>
              </a:rPr>
              <a:t>in-process Robosuite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3090672"/>
            <a:ext cx="3977639" cy="1993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policy camera를 상속하지 않는 control env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absolute blocking OSC_POSE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target task success로만 early stop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workspace / joint / freshness safety gate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400" b="0">
                <a:solidFill>
                  <a:srgbClr val="DDE5F0"/>
                </a:solidFill>
                <a:latin typeface="Noto Sans CJK KR"/>
              </a:defRPr>
            </a:pPr>
            <a:r>
              <a:t>•  gripper: −1 open, +1 closed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5157216"/>
            <a:ext cx="1609344" cy="310896"/>
          </a:xfrm>
          <a:prstGeom prst="roundRect">
            <a:avLst/>
          </a:prstGeom>
          <a:solidFill>
            <a:srgbClr val="33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3176" y="5161788"/>
            <a:ext cx="15179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914D"/>
                </a:solidFill>
                <a:latin typeface="Noto Sans CJK KR"/>
              </a:rPr>
              <a:t>xarm7_sim_world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31536" y="3255264"/>
            <a:ext cx="1243584" cy="0"/>
          </a:xfrm>
          <a:prstGeom prst="line">
            <a:avLst/>
          </a:prstGeom>
          <a:ln w="3302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31536" y="2816352"/>
            <a:ext cx="12161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96A3B7"/>
                </a:solidFill>
                <a:latin typeface="Noto Sans CJK KR"/>
              </a:rPr>
              <a:t>pose contract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5989320"/>
            <a:ext cx="11009376" cy="429768"/>
          </a:xfrm>
          <a:prstGeom prst="roundRect">
            <a:avLst/>
          </a:prstGeom>
          <a:solidFill>
            <a:srgbClr val="11192A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6025896"/>
            <a:ext cx="10469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3B7"/>
                </a:solidFill>
                <a:latin typeface="Noto Sans CJK KR"/>
              </a:rPr>
              <a:t>범위  </a:t>
            </a:r>
            <a:r>
              <a:rPr sz="1250" b="1">
                <a:solidFill>
                  <a:srgbClr val="FF914D"/>
                </a:solidFill>
                <a:latin typeface="Noto Sans CJK KR"/>
              </a:rPr>
              <a:t>SIMULATION ONLY</a:t>
            </a:r>
            <a:r>
              <a:rPr sz="1250" b="0">
                <a:solidFill>
                  <a:srgbClr val="DDE5F0"/>
                </a:solidFill>
                <a:latin typeface="Noto Sans CJK KR"/>
              </a:rPr>
              <a:t>  ·  ROS command / xArm SDK / robot IP / real calibration 사용 안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xarm_transfer_sim.example.yaml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End-to-end 실행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온라인 oracle과 learned Ridge가 같은 계약·안전 계층을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56816"/>
            <a:ext cx="1408176" cy="230428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0312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9D98A"/>
                </a:solidFill>
                <a:latin typeface="Noto Sans CJK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23744"/>
            <a:ext cx="113385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7FB"/>
                </a:solidFill>
                <a:latin typeface="Noto Sans CJK KR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182112"/>
            <a:ext cx="113385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96A3B7"/>
                </a:solidFill>
                <a:latin typeface="Noto Sans CJK KR"/>
              </a:rPr>
              <a:t>raw action
+ metadata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93975" y="3108960"/>
            <a:ext cx="118873" cy="0"/>
          </a:xfrm>
          <a:prstGeom prst="line">
            <a:avLst/>
          </a:prstGeom>
          <a:ln w="20320">
            <a:solidFill>
              <a:srgbClr val="6D7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58568" y="1956816"/>
            <a:ext cx="1408176" cy="230428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5" y="210312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9D98A"/>
                </a:solidFill>
                <a:latin typeface="Noto Sans CJK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5" y="2523744"/>
            <a:ext cx="113385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7FB"/>
                </a:solidFill>
                <a:latin typeface="Noto Sans CJK KR"/>
              </a:rPr>
              <a:t>Panda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4015" y="3182112"/>
            <a:ext cx="113385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96A3B7"/>
                </a:solidFill>
                <a:latin typeface="Noto Sans CJK KR"/>
              </a:rPr>
              <a:t>one policy step
+ achieved pose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94176" y="3108960"/>
            <a:ext cx="118872" cy="0"/>
          </a:xfrm>
          <a:prstGeom prst="line">
            <a:avLst/>
          </a:prstGeom>
          <a:ln w="20320">
            <a:solidFill>
              <a:srgbClr val="6D7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58768" y="1956816"/>
            <a:ext cx="1408176" cy="230428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5" y="210312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5BB7FF"/>
                </a:solidFill>
                <a:latin typeface="Noto Sans CJK K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5" y="2523744"/>
            <a:ext cx="113385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7FB"/>
                </a:solidFill>
                <a:latin typeface="Noto Sans CJK KR"/>
              </a:rPr>
              <a:t>Transform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5" y="3182112"/>
            <a:ext cx="113385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96A3B7"/>
                </a:solidFill>
                <a:latin typeface="Noto Sans CJK KR"/>
              </a:rPr>
              <a:t>task world ×
 tool frame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94376" y="3108960"/>
            <a:ext cx="118872" cy="0"/>
          </a:xfrm>
          <a:prstGeom prst="line">
            <a:avLst/>
          </a:prstGeom>
          <a:ln w="20320">
            <a:solidFill>
              <a:srgbClr val="6D7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58968" y="1956816"/>
            <a:ext cx="1408176" cy="230428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4416" y="210312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8B7CFF"/>
                </a:solidFill>
                <a:latin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4416" y="2523744"/>
            <a:ext cx="113385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7FB"/>
                </a:solidFill>
                <a:latin typeface="Noto Sans CJK KR"/>
              </a:rPr>
              <a:t>Dynamics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3182112"/>
            <a:ext cx="113385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96A3B7"/>
                </a:solidFill>
                <a:latin typeface="Noto Sans CJK KR"/>
              </a:rPr>
              <a:t>online oracle
 or Ridge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94576" y="3108960"/>
            <a:ext cx="118872" cy="0"/>
          </a:xfrm>
          <a:prstGeom prst="line">
            <a:avLst/>
          </a:prstGeom>
          <a:ln w="20320">
            <a:solidFill>
              <a:srgbClr val="6D7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59168" y="1956816"/>
            <a:ext cx="1408176" cy="230428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14616" y="210312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D166"/>
                </a:solidFill>
                <a:latin typeface="Noto Sans CJK K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2523744"/>
            <a:ext cx="113385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7FB"/>
                </a:solidFill>
                <a:latin typeface="Noto Sans CJK KR"/>
              </a:rPr>
              <a:t>Safety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3182112"/>
            <a:ext cx="113385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96A3B7"/>
                </a:solidFill>
                <a:latin typeface="Noto Sans CJK KR"/>
              </a:rPr>
              <a:t>fresh · finite
 workspace · joints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94776" y="3108960"/>
            <a:ext cx="118872" cy="0"/>
          </a:xfrm>
          <a:prstGeom prst="line">
            <a:avLst/>
          </a:prstGeom>
          <a:ln w="20320">
            <a:solidFill>
              <a:srgbClr val="6D7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59368" y="1956816"/>
            <a:ext cx="1408176" cy="230428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14816" y="210312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914D"/>
                </a:solidFill>
                <a:latin typeface="Noto Sans CJK KR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6" y="2523744"/>
            <a:ext cx="113385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7FB"/>
                </a:solidFill>
                <a:latin typeface="Noto Sans CJK KR"/>
              </a:rPr>
              <a:t>xArm7 OSC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3182112"/>
            <a:ext cx="113385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96A3B7"/>
                </a:solidFill>
                <a:latin typeface="Noto Sans CJK KR"/>
              </a:rPr>
              <a:t>absolute blocking
 + outer loop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94976" y="3108960"/>
            <a:ext cx="118872" cy="0"/>
          </a:xfrm>
          <a:prstGeom prst="line">
            <a:avLst/>
          </a:prstGeom>
          <a:ln w="20320">
            <a:solidFill>
              <a:srgbClr val="6D7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259568" y="1956816"/>
            <a:ext cx="1408176" cy="230428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15016" y="210312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9D98A"/>
                </a:solidFill>
                <a:latin typeface="Noto Sans CJK KR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15016" y="2523744"/>
            <a:ext cx="113385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7FB"/>
                </a:solidFill>
                <a:latin typeface="Noto Sans CJK KR"/>
              </a:rPr>
              <a:t>Target success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5016" y="3182112"/>
            <a:ext cx="113385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96A3B7"/>
                </a:solidFill>
                <a:latin typeface="Noto Sans CJK KR"/>
              </a:rPr>
              <a:t>task event
 terminates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9424" y="4663440"/>
            <a:ext cx="6254496" cy="841248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882896"/>
            <a:ext cx="5724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7CFF"/>
                </a:solidFill>
                <a:latin typeface="Noto Sans CJK KR"/>
              </a:rPr>
              <a:t>Provider만 교체  </a:t>
            </a:r>
            <a:r>
              <a:rPr sz="1300" b="0">
                <a:solidFill>
                  <a:srgbClr val="DDE5F0"/>
                </a:solidFill>
                <a:latin typeface="Noto Sans CJK KR"/>
              </a:rPr>
              <a:t>oracle: Panda achieved next pose</a:t>
            </a:r>
            <a:r>
              <a:rPr sz="1300" b="0">
                <a:solidFill>
                  <a:srgbClr val="96A3B7"/>
                </a:solidFill>
                <a:latin typeface="Noto Sans CJK KR"/>
              </a:rPr>
              <a:t>   |   </a:t>
            </a:r>
            <a:r>
              <a:rPr sz="1300" b="0">
                <a:solidFill>
                  <a:srgbClr val="DDE5F0"/>
                </a:solidFill>
                <a:latin typeface="Noto Sans CJK KR"/>
              </a:rPr>
              <a:t>Ridge: autoregressive predicted pose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9052560" y="4352544"/>
            <a:ext cx="950976" cy="676656"/>
          </a:xfrm>
          <a:prstGeom prst="line">
            <a:avLst/>
          </a:prstGeom>
          <a:ln w="2032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30768" y="5102352"/>
            <a:ext cx="22311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6A3B7"/>
                </a:solidFill>
                <a:latin typeface="Noto Sans CJK KR"/>
              </a:rPr>
              <a:t>achieved pose feedback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751576"/>
            <a:ext cx="10936224" cy="457200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A7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843016"/>
            <a:ext cx="104607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20" b="1">
                <a:solidFill>
                  <a:srgbClr val="F5F7FB"/>
                </a:solidFill>
                <a:latin typeface="Noto Sans CJK KR"/>
              </a:rPr>
              <a:t>같은 frame·unit·timestamp contract와 fail-closed validation을 모든 단계에서 유지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rollout.py · contracts.py · runtime.py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좌표 변환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task/world 정합과 tool convention을 분리해 motion direction 왜곡을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10899648" cy="896112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19072"/>
            <a:ext cx="102229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6A3B7"/>
                </a:solidFill>
                <a:latin typeface="Noto Sans CJK KR"/>
              </a:rPr>
              <a:t>T</a:t>
            </a:r>
            <a:r>
              <a:rPr sz="1800" b="1">
                <a:solidFill>
                  <a:srgbClr val="FF914D"/>
                </a:solidFill>
                <a:latin typeface="Noto Sans CJK KR"/>
              </a:rPr>
              <a:t>targetWorld,targetTool</a:t>
            </a:r>
            <a:r>
              <a:rPr sz="1800" b="0">
                <a:solidFill>
                  <a:srgbClr val="96A3B7"/>
                </a:solidFill>
                <a:latin typeface="Noto Sans CJK KR"/>
              </a:rPr>
              <a:t>  =  T</a:t>
            </a:r>
            <a:r>
              <a:rPr sz="1800" b="1">
                <a:solidFill>
                  <a:srgbClr val="5BB7FF"/>
                </a:solidFill>
                <a:latin typeface="Noto Sans CJK KR"/>
              </a:rPr>
              <a:t>targetWorld,sourceWorld</a:t>
            </a:r>
            <a:r>
              <a:rPr sz="1800" b="0">
                <a:solidFill>
                  <a:srgbClr val="96A3B7"/>
                </a:solidFill>
                <a:latin typeface="Noto Sans CJK KR"/>
              </a:rPr>
              <a:t>  @  T</a:t>
            </a:r>
            <a:r>
              <a:rPr sz="1800" b="1">
                <a:solidFill>
                  <a:srgbClr val="39D98A"/>
                </a:solidFill>
                <a:latin typeface="Noto Sans CJK KR"/>
              </a:rPr>
              <a:t>sourceWorld,sourceTool</a:t>
            </a:r>
            <a:r>
              <a:rPr sz="1800" b="0">
                <a:solidFill>
                  <a:srgbClr val="96A3B7"/>
                </a:solidFill>
                <a:latin typeface="Noto Sans CJK KR"/>
              </a:rPr>
              <a:t>  @  T</a:t>
            </a:r>
            <a:r>
              <a:rPr sz="1800" b="1">
                <a:solidFill>
                  <a:srgbClr val="8B7CFF"/>
                </a:solidFill>
                <a:latin typeface="Noto Sans CJK KR"/>
              </a:rPr>
              <a:t>sourceTool,targetTool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688336"/>
            <a:ext cx="5102352" cy="2505456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926080"/>
            <a:ext cx="1517904" cy="310896"/>
          </a:xfrm>
          <a:prstGeom prst="roundRect">
            <a:avLst/>
          </a:prstGeom>
          <a:solidFill>
            <a:srgbClr val="17354A"/>
          </a:solidFill>
          <a:ln w="12700">
            <a:solidFill>
              <a:srgbClr val="356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930652"/>
            <a:ext cx="1426463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5BB7FF"/>
                </a:solidFill>
                <a:latin typeface="Noto Sans CJK KR"/>
              </a:rPr>
              <a:t>LEFT-MULTIPLY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83280"/>
            <a:ext cx="440740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F7FB"/>
                </a:solidFill>
                <a:latin typeface="Noto Sans CJK KR"/>
              </a:rPr>
              <a:t>Task / world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40480"/>
            <a:ext cx="440740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DDE5F0"/>
                </a:solidFill>
                <a:latin typeface="Noto Sans CJK KR"/>
              </a:rPr>
              <a:t>Panda와 xArm7이 동일한 task 좌표를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315968"/>
            <a:ext cx="4297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96A3B7"/>
                </a:solidFill>
                <a:latin typeface="Noto Sans CJK KR"/>
              </a:rPr>
              <a:t>현재 값  </a:t>
            </a:r>
            <a:r>
              <a:rPr sz="1400" b="1">
                <a:solidFill>
                  <a:srgbClr val="5BB7FF"/>
                </a:solidFill>
                <a:latin typeface="Noto Sans CJK KR"/>
              </a:rPr>
              <a:t>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645152"/>
            <a:ext cx="420624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Mono CJK KR"/>
              </a:rPr>
              <a:t>translation = [0, 0, 0] m
rotation = [0, 0, 0, 1] XYZW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2688336"/>
            <a:ext cx="5541264" cy="2505456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55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2926080"/>
            <a:ext cx="1627632" cy="310896"/>
          </a:xfrm>
          <a:prstGeom prst="roundRect">
            <a:avLst/>
          </a:prstGeom>
          <a:solidFill>
            <a:srgbClr val="29264A"/>
          </a:solidFill>
          <a:ln w="12700">
            <a:solidFill>
              <a:srgbClr val="65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930652"/>
            <a:ext cx="153619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8B7CFF"/>
                </a:solidFill>
                <a:latin typeface="Noto Sans CJK KR"/>
              </a:rPr>
              <a:t>RIGHT-MULTIPLY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383280"/>
            <a:ext cx="468172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F7FB"/>
                </a:solidFill>
                <a:latin typeface="Noto Sans CJK KR"/>
              </a:rPr>
              <a:t>Tool-frame 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840480"/>
            <a:ext cx="468172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DDE5F0"/>
                </a:solidFill>
                <a:latin typeface="Noto Sans CJK KR"/>
              </a:rPr>
              <a:t>nominal gripper axis 차이만 local-Z에서 보정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4315968"/>
            <a:ext cx="4526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96A3B7"/>
                </a:solidFill>
                <a:latin typeface="Noto Sans CJK KR"/>
              </a:rPr>
              <a:t>현재 값  </a:t>
            </a:r>
            <a:r>
              <a:rPr sz="1400" b="1">
                <a:solidFill>
                  <a:srgbClr val="8B7CFF"/>
                </a:solidFill>
                <a:latin typeface="Noto Sans CJK KR"/>
              </a:rPr>
              <a:t>−90° about local 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736592"/>
            <a:ext cx="46451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Mono CJK KR"/>
              </a:rPr>
              <a:t>quaternion = [0, 0, −0.7071, 0.7071]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513832"/>
            <a:ext cx="10881360" cy="612648"/>
          </a:xfrm>
          <a:prstGeom prst="roundRect">
            <a:avLst/>
          </a:prstGeom>
          <a:solidFill>
            <a:srgbClr val="182233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650992"/>
            <a:ext cx="103875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FF914D"/>
                </a:solidFill>
                <a:latin typeface="Noto Sans CJK KR"/>
              </a:rPr>
              <a:t>핵심  </a:t>
            </a:r>
            <a:r>
              <a:rPr sz="1320" b="1">
                <a:solidFill>
                  <a:srgbClr val="F5F7FB"/>
                </a:solidFill>
                <a:latin typeface="Noto Sans CJK KR"/>
              </a:rPr>
              <a:t>home pose로 변환을 추정하지 않으며, simulation transform을 real calibration으로 표시할 수 없다.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simulation_transform.py · transform version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Target control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absolute blocking OSC에 보상 루프와 task-aware 예외를 제한적으로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99616"/>
            <a:ext cx="3666744" cy="450799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755648"/>
            <a:ext cx="1700784" cy="310896"/>
          </a:xfrm>
          <a:prstGeom prst="roundRect">
            <a:avLst/>
          </a:prstGeom>
          <a:solidFill>
            <a:srgbClr val="17354A"/>
          </a:solidFill>
          <a:ln w="12700">
            <a:solidFill>
              <a:srgbClr val="345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60219"/>
            <a:ext cx="160934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5BB7FF"/>
                </a:solidFill>
                <a:latin typeface="Noto Sans CJK KR"/>
              </a:rPr>
              <a:t>ADMISSION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1188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F5F7FB"/>
                </a:solidFill>
                <a:latin typeface="Noto Sans CJK KR"/>
              </a:rPr>
              <a:t>Frame /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2304288"/>
            <a:ext cx="1911095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96A3B7"/>
                </a:solidFill>
                <a:latin typeface="Noto Sans CJK KR"/>
              </a:rPr>
              <a:t>simulation_only · xarm7_sim_world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44368"/>
            <a:ext cx="1188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F5F7FB"/>
                </a:solidFill>
                <a:latin typeface="Noto Sans CJK KR"/>
              </a:rPr>
              <a:t>Freshness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2944368"/>
            <a:ext cx="1911095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96A3B7"/>
                </a:solidFill>
                <a:latin typeface="Noto Sans CJK KR"/>
              </a:rPr>
              <a:t>age ≤ 0.15 s · future skew ≤ 0.02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84448"/>
            <a:ext cx="1188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F5F7FB"/>
                </a:solidFill>
                <a:latin typeface="Noto Sans CJK KR"/>
              </a:rPr>
              <a:t>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3584448"/>
            <a:ext cx="1911095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96A3B7"/>
                </a:solidFill>
                <a:latin typeface="Noto Sans CJK KR"/>
              </a:rPr>
              <a:t>[−0.65,−0.60,0.40]–[0.35,0.60,1.35]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1188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F5F7FB"/>
                </a:solidFill>
                <a:latin typeface="Noto Sans CJK KR"/>
              </a:rPr>
              <a:t>Joint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4224528"/>
            <a:ext cx="1911095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96A3B7"/>
                </a:solidFill>
                <a:latin typeface="Noto Sans CJK KR"/>
              </a:rPr>
              <a:t>model limit + 0.01 rad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64608"/>
            <a:ext cx="1188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F5F7FB"/>
                </a:solidFill>
                <a:latin typeface="Noto Sans CJK KR"/>
              </a:rPr>
              <a:t>Learned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864608"/>
            <a:ext cx="1911095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96A3B7"/>
                </a:solidFill>
                <a:latin typeface="Noto Sans CJK KR"/>
              </a:rPr>
              <a:t>held-out position / orientation bounds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1499616"/>
            <a:ext cx="3310128" cy="450799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09744" y="1755648"/>
            <a:ext cx="1517904" cy="310896"/>
          </a:xfrm>
          <a:prstGeom prst="roundRect">
            <a:avLst/>
          </a:prstGeom>
          <a:solidFill>
            <a:srgbClr val="4A2B22"/>
          </a:solidFill>
          <a:ln w="12700">
            <a:solidFill>
              <a:srgbClr val="7D4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1760219"/>
            <a:ext cx="1426463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914D"/>
                </a:solidFill>
                <a:latin typeface="Noto Sans CJK KR"/>
              </a:rPr>
              <a:t>BLOCKING OSC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2331720"/>
            <a:ext cx="2633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F5F7FB"/>
                </a:solidFill>
                <a:latin typeface="Noto Sans CJK KR"/>
              </a:rPr>
              <a:t>Free-space convergence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91456" y="2779776"/>
            <a:ext cx="1271016" cy="14173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91456" y="2779776"/>
            <a:ext cx="64008" cy="1417320"/>
          </a:xfrm>
          <a:prstGeom prst="rect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2962656"/>
            <a:ext cx="8869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914D"/>
                </a:solidFill>
                <a:latin typeface="Noto Sans CJK KR"/>
              </a:rPr>
              <a:t>2.5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3602736"/>
            <a:ext cx="85953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3986784"/>
            <a:ext cx="859536" cy="64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position tol.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2779776"/>
            <a:ext cx="1271016" cy="14173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2779776"/>
            <a:ext cx="64008" cy="1417320"/>
          </a:xfrm>
          <a:prstGeom prst="rect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62656"/>
            <a:ext cx="8869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914D"/>
                </a:solidFill>
                <a:latin typeface="Noto Sans CJK KR"/>
              </a:rPr>
              <a:t>7°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602736"/>
            <a:ext cx="85953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orientation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3986784"/>
            <a:ext cx="859536" cy="64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tolerance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4407408"/>
            <a:ext cx="2615184" cy="1389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100" b="0">
                <a:solidFill>
                  <a:srgbClr val="DDE5F0"/>
                </a:solidFill>
                <a:latin typeface="Noto Sans CJK KR"/>
              </a:defRPr>
            </a:pPr>
            <a:r>
              <a:t>•  5 consecutive in-bound steps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00" b="0">
                <a:solidFill>
                  <a:srgbClr val="DDE5F0"/>
                </a:solidFill>
                <a:latin typeface="Noto Sans CJK KR"/>
              </a:defRPr>
            </a:pPr>
            <a:r>
              <a:t>•  position correction ≤ 3 cm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00" b="0">
                <a:solidFill>
                  <a:srgbClr val="DDE5F0"/>
                </a:solidFill>
                <a:latin typeface="Noto Sans CJK KR"/>
              </a:defRPr>
            </a:pPr>
            <a:r>
              <a:t>•  orientation correction ≤ 5°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00" b="0">
                <a:solidFill>
                  <a:srgbClr val="DDE5F0"/>
                </a:solidFill>
                <a:latin typeface="Noto Sans CJK KR"/>
              </a:defRPr>
            </a:pPr>
            <a:r>
              <a:t>•  timeout 2 s · max 300 iterations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1499616"/>
            <a:ext cx="3483864" cy="450799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5B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39327" y="1755648"/>
            <a:ext cx="1929384" cy="310896"/>
          </a:xfrm>
          <a:prstGeom prst="roundRect">
            <a:avLst/>
          </a:prstGeom>
          <a:solidFill>
            <a:srgbClr val="4A2B22"/>
          </a:solidFill>
          <a:ln w="12700">
            <a:solidFill>
              <a:srgbClr val="7D4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1760219"/>
            <a:ext cx="1837943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914D"/>
                </a:solidFill>
                <a:latin typeface="Noto Sans CJK KR"/>
              </a:rPr>
              <a:t>CONTACT EXCEPTION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2331720"/>
            <a:ext cx="27614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F5F7FB"/>
                </a:solidFill>
                <a:latin typeface="Noto Sans CJK KR"/>
              </a:rPr>
              <a:t>PickPlaceCan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2734056"/>
            <a:ext cx="2788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DDE5F0"/>
                </a:solidFill>
                <a:latin typeface="Noto Sans CJK KR"/>
              </a:rPr>
              <a:t>simulator가 gripper ↔ Can 접촉을 직접 확인한 동안만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3456432"/>
            <a:ext cx="27797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914D"/>
                </a:solidFill>
                <a:latin typeface="Noto Sans CJK KR"/>
              </a:rPr>
              <a:t>6.0 cm</a:t>
            </a:r>
            <a:r>
              <a:rPr sz="2100" b="0">
                <a:solidFill>
                  <a:srgbClr val="96A3B7"/>
                </a:solidFill>
                <a:latin typeface="Noto Sans CJK KR"/>
              </a:rPr>
              <a:t>  /  </a:t>
            </a:r>
            <a:r>
              <a:rPr sz="2100" b="1">
                <a:solidFill>
                  <a:srgbClr val="FF914D"/>
                </a:solidFill>
                <a:latin typeface="Noto Sans CJK KR"/>
              </a:rPr>
              <a:t>18°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4114800"/>
            <a:ext cx="2798064" cy="1444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080" b="0">
                <a:solidFill>
                  <a:srgbClr val="DDE5F0"/>
                </a:solidFill>
                <a:latin typeface="Noto Sans CJK KR"/>
              </a:defRPr>
            </a:pPr>
            <a:r>
              <a:t>•  Kp = [300,300,500,300,300,300]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080" b="0">
                <a:solidFill>
                  <a:srgbClr val="DDE5F0"/>
                </a:solidFill>
                <a:latin typeface="Noto Sans CJK KR"/>
              </a:defRPr>
            </a:pPr>
            <a:r>
              <a:t>•  position compensation ≤ 10 cm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080" b="0">
                <a:solidFill>
                  <a:srgbClr val="DDE5F0"/>
                </a:solidFill>
                <a:latin typeface="Noto Sans CJK KR"/>
              </a:defRPr>
            </a:pPr>
            <a:r>
              <a:t>•  Lift에서는 항상 비활성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080" b="0">
                <a:solidFill>
                  <a:srgbClr val="DDE5F0"/>
                </a:solidFill>
                <a:latin typeface="Noto Sans CJK KR"/>
              </a:defRPr>
            </a:pPr>
            <a:r>
              <a:t>•  workspace/joint/freshness gate는 유지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6144768"/>
            <a:ext cx="10899648" cy="274320"/>
          </a:xfrm>
          <a:prstGeom prst="roundRect">
            <a:avLst/>
          </a:prstGeom>
          <a:solidFill>
            <a:srgbClr val="2B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6167628"/>
            <a:ext cx="10469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80" b="1">
                <a:solidFill>
                  <a:srgbClr val="FFD166"/>
                </a:solidFill>
                <a:latin typeface="Noto Sans CJK KR"/>
              </a:rPr>
              <a:t>Target task-success event가 발생하면 마지막 EE pose가 미수렴이어도 즉시 종료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profiles.py · control.py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평가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task profile이 checkpoint·observation·controller를 정적으로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5248656" cy="2057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A6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700784"/>
            <a:ext cx="960120" cy="310896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B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05356"/>
            <a:ext cx="86868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39D98A"/>
                </a:solidFill>
                <a:latin typeface="Noto Sans CJK KR"/>
              </a:rPr>
              <a:t>TASK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39696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F5F7FB"/>
                </a:solidFill>
                <a:latin typeface="Noto Sans CJK KR"/>
              </a:rPr>
              <a:t>PickPlaceCan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755648"/>
            <a:ext cx="274320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150" b="0">
                <a:solidFill>
                  <a:srgbClr val="DDE5F0"/>
                </a:solidFill>
                <a:latin typeface="Noto Sans CJK KR"/>
              </a:defRPr>
            </a:pPr>
            <a:r>
              <a:t>•  object obs [14] · graspable Can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50" b="0">
                <a:solidFill>
                  <a:srgbClr val="DDE5F0"/>
                </a:solidFill>
                <a:latin typeface="Noto Sans CJK KR"/>
              </a:defRPr>
            </a:pPr>
            <a:r>
              <a:t>•  checkpoint: can / low_dim / epoch 250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50" b="0">
                <a:solidFill>
                  <a:srgbClr val="DDE5F0"/>
                </a:solidFill>
                <a:latin typeface="Noto Sans CJK KR"/>
              </a:defRPr>
            </a:pPr>
            <a:r>
              <a:t>•  native horizon 400 · full task seed 1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50" b="1">
                <a:solidFill>
                  <a:srgbClr val="FF914D"/>
                </a:solidFill>
                <a:latin typeface="Noto Sans CJK KR"/>
              </a:defRPr>
            </a:pPr>
            <a:r>
              <a:t>•  contact relaxation enabled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5431536" cy="2057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6B4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700784"/>
            <a:ext cx="960120" cy="310896"/>
          </a:xfrm>
          <a:prstGeom prst="roundRect">
            <a:avLst/>
          </a:prstGeom>
          <a:solidFill>
            <a:srgbClr val="4A2B22"/>
          </a:solidFill>
          <a:ln w="12700">
            <a:solidFill>
              <a:srgbClr val="7D4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705356"/>
            <a:ext cx="86868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914D"/>
                </a:solidFill>
                <a:latin typeface="Noto Sans CJK KR"/>
              </a:rPr>
              <a:t>TASK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39696"/>
            <a:ext cx="187451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F5F7FB"/>
                </a:solidFill>
                <a:latin typeface="Noto Sans CJK KR"/>
              </a:rPr>
              <a:t>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755648"/>
            <a:ext cx="2907792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150" b="0">
                <a:solidFill>
                  <a:srgbClr val="DDE5F0"/>
                </a:solidFill>
                <a:latin typeface="Noto Sans CJK KR"/>
              </a:defRPr>
            </a:pPr>
            <a:r>
              <a:t>•  object obs [10] · graspable cube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50" b="0">
                <a:solidFill>
                  <a:srgbClr val="DDE5F0"/>
                </a:solidFill>
                <a:latin typeface="Noto Sans CJK KR"/>
              </a:defRPr>
            </a:pPr>
            <a:r>
              <a:t>•  checkpoint: lift / low_dim / epoch 1000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50" b="0">
                <a:solidFill>
                  <a:srgbClr val="DDE5F0"/>
                </a:solidFill>
                <a:latin typeface="Noto Sans CJK KR"/>
              </a:defRPr>
            </a:pPr>
            <a:r>
              <a:t>•  native horizon 400 · seeds 0,1,3,7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50" b="1">
                <a:solidFill>
                  <a:srgbClr val="5BB7FF"/>
                </a:solidFill>
                <a:latin typeface="Noto Sans CJK KR"/>
              </a:defRPr>
            </a:pPr>
            <a:r>
              <a:t>•  contact relaxation disabled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94760"/>
            <a:ext cx="3685032" cy="2084831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4041648"/>
            <a:ext cx="1225296" cy="310896"/>
          </a:xfrm>
          <a:prstGeom prst="roundRect">
            <a:avLst/>
          </a:prstGeom>
          <a:solidFill>
            <a:srgbClr val="29264A"/>
          </a:solidFill>
          <a:ln w="12700">
            <a:solidFill>
              <a:srgbClr val="65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46220"/>
            <a:ext cx="113385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8B7CFF"/>
                </a:solidFill>
                <a:latin typeface="Noto Sans CJK KR"/>
              </a:rPr>
              <a:t>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17136"/>
            <a:ext cx="3090672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140" b="1">
                <a:solidFill>
                  <a:srgbClr val="39D98A"/>
                </a:solidFill>
                <a:latin typeface="Noto Sans CJK KR"/>
              </a:defRPr>
            </a:pPr>
            <a:r>
              <a:t>online_oracle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40" b="0">
                <a:solidFill>
                  <a:srgbClr val="DDE5F0"/>
                </a:solidFill>
                <a:latin typeface="Noto Sans CJK KR"/>
              </a:defRPr>
            </a:pPr>
            <a:r>
              <a:t>Panda achieved next pose를 즉시 사용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40" b="1">
                <a:solidFill>
                  <a:srgbClr val="8B7CFF"/>
                </a:solidFill>
                <a:latin typeface="Noto Sans CJK KR"/>
              </a:defRPr>
            </a:pPr>
            <a:r>
              <a:t>learned_ridge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40" b="0">
                <a:solidFill>
                  <a:srgbClr val="DDE5F0"/>
                </a:solidFill>
                <a:latin typeface="Noto Sans CJK KR"/>
              </a:defRPr>
            </a:pPr>
            <a:r>
              <a:t>recorded action을 autoregressive replay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62856" y="3794760"/>
            <a:ext cx="3675887" cy="2084831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4041648"/>
            <a:ext cx="1078992" cy="310896"/>
          </a:xfrm>
          <a:prstGeom prst="roundRect">
            <a:avLst/>
          </a:prstGeom>
          <a:solidFill>
            <a:srgbClr val="17354A"/>
          </a:solidFill>
          <a:ln w="12700">
            <a:solidFill>
              <a:srgbClr val="345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4046220"/>
            <a:ext cx="987551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5BB7FF"/>
                </a:solidFill>
                <a:latin typeface="Noto Sans CJK KR"/>
              </a:rPr>
              <a:t>DATASET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4507992"/>
            <a:ext cx="2560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7FB"/>
                </a:solidFill>
                <a:latin typeface="Noto Sans CJK KR"/>
              </a:rPr>
              <a:t>300</a:t>
            </a:r>
            <a:r>
              <a:rPr sz="2200" b="0">
                <a:solidFill>
                  <a:srgbClr val="96A3B7"/>
                </a:solidFill>
                <a:latin typeface="Noto Sans CJK KR"/>
              </a:rPr>
              <a:t> transitions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4956048"/>
            <a:ext cx="30175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DDE5F0"/>
                </a:solidFill>
                <a:latin typeface="Noto Sans CJK KR"/>
              </a:rPr>
              <a:t>train: seeds 0,2,4,5 (200)
validation: seeds 1,3 (100)
whole-episode split · seed 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3794760"/>
            <a:ext cx="3099816" cy="2084831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05088" y="4041648"/>
            <a:ext cx="1755648" cy="310896"/>
          </a:xfrm>
          <a:prstGeom prst="roundRect">
            <a:avLst/>
          </a:prstGeom>
          <a:solidFill>
            <a:srgbClr val="2A243B"/>
          </a:solidFill>
          <a:ln w="12700">
            <a:solidFill>
              <a:srgbClr val="645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0808" y="4046220"/>
            <a:ext cx="1664207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D166"/>
                </a:solidFill>
                <a:latin typeface="Noto Sans CJK KR"/>
              </a:rPr>
              <a:t>RUNTIME 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4526280"/>
            <a:ext cx="2468880" cy="11521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100" b="1">
                <a:solidFill>
                  <a:srgbClr val="F5F7FB"/>
                </a:solidFill>
                <a:latin typeface="Noto Sans CJK KR"/>
              </a:defRPr>
            </a:pPr>
            <a:r>
              <a:t>low_dim만 실행 가능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00" b="0">
                <a:solidFill>
                  <a:srgbClr val="DDE5F0"/>
                </a:solidFill>
                <a:latin typeface="Noto Sans CJK KR"/>
              </a:defRPr>
            </a:pPr>
            <a:r>
              <a:t>image modes: classified, fail closed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00" b="0">
                <a:solidFill>
                  <a:srgbClr val="DDE5F0"/>
                </a:solidFill>
                <a:latin typeface="Noto Sans CJK KR"/>
              </a:defRPr>
            </a:pPr>
            <a:r>
              <a:t>unregistered task: fail closed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00" b="0">
                <a:solidFill>
                  <a:srgbClr val="96A3B7"/>
                </a:solidFill>
                <a:latin typeface="Noto Sans CJK KR"/>
              </a:defRPr>
            </a:pPr>
            <a:r>
              <a:t>Lift Ridge training: 현재 범위 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profiles.py · dataset/model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Forward dynamics: held-out one-step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episode leakage 없이 100개 validation transition으로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7827264" cy="449884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orward_dynamics_rmse.png"/>
          <p:cNvPicPr>
            <a:picLocks noChangeAspect="1"/>
          </p:cNvPicPr>
          <p:nvPr/>
        </p:nvPicPr>
        <p:blipFill>
          <a:blip r:embed="rId2"/>
          <a:srcRect t="30" b="30"/>
          <a:stretch>
            <a:fillRect/>
          </a:stretch>
        </p:blipFill>
        <p:spPr>
          <a:xfrm>
            <a:off x="850392" y="1627632"/>
            <a:ext cx="7443216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32520" y="1417320"/>
            <a:ext cx="2816352" cy="135331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32520" y="1417320"/>
            <a:ext cx="64008" cy="1353312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8552" y="1600200"/>
            <a:ext cx="243230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7CFF"/>
                </a:solidFill>
                <a:latin typeface="Noto Sans CJK KR"/>
              </a:rPr>
              <a:t>2.39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240280"/>
            <a:ext cx="24048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Ridge position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624328"/>
            <a:ext cx="2404872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α = 0.01 · selected deployable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971800"/>
            <a:ext cx="2816352" cy="135331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2971800"/>
            <a:ext cx="64008" cy="1353312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3154680"/>
            <a:ext cx="243230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7CFF"/>
                </a:solidFill>
                <a:latin typeface="Noto Sans CJK KR"/>
              </a:rPr>
              <a:t>0.254°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94760"/>
            <a:ext cx="24048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Ridge orientation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178808"/>
            <a:ext cx="2404872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held-out one-step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526280"/>
            <a:ext cx="2816352" cy="1389888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B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0264" y="4736592"/>
            <a:ext cx="232257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39D98A"/>
                </a:solidFill>
                <a:latin typeface="Noto Sans CJK KR"/>
              </a:rPr>
              <a:t>≈75%↓</a:t>
            </a:r>
            <a:r>
              <a:rPr sz="1900" b="1">
                <a:solidFill>
                  <a:srgbClr val="F5F7FB"/>
                </a:solidFill>
                <a:latin typeface="Noto Sans CJK KR"/>
              </a:rPr>
              <a:t>  position 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5212080"/>
            <a:ext cx="230428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DDE5F0"/>
                </a:solidFill>
                <a:latin typeface="Noto Sans CJK KR"/>
              </a:rPr>
              <a:t>Ridge vs. identity baseline
9.63 mm → 2.39 mm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6117336"/>
            <a:ext cx="10890504" cy="283464"/>
          </a:xfrm>
          <a:prstGeom prst="roundRect">
            <a:avLst/>
          </a:prstGeom>
          <a:solidFill>
            <a:srgbClr val="15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6144768"/>
            <a:ext cx="104973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D166"/>
                </a:solidFill>
                <a:latin typeface="Noto Sans CJK KR"/>
              </a:rPr>
              <a:t>주의: one-step held-out error는 50-step autoregressive drift의 online safety bound가 아니다.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forward_dynamics_evaluation.json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50-step xArm7 tracking: Oracle vs. 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동일 held-out seeds 1·3·7, 같은 transform·controller·safety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7955279" cy="4443984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cking_oracle_vs_ridge.png"/>
          <p:cNvPicPr>
            <a:picLocks noChangeAspect="1"/>
          </p:cNvPicPr>
          <p:nvPr/>
        </p:nvPicPr>
        <p:blipFill>
          <a:blip r:embed="rId2"/>
          <a:srcRect t="57" b="57"/>
          <a:stretch>
            <a:fillRect/>
          </a:stretch>
        </p:blipFill>
        <p:spPr>
          <a:xfrm>
            <a:off x="841248" y="1645920"/>
            <a:ext cx="7589520" cy="4005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60536" y="1417320"/>
            <a:ext cx="2697480" cy="135331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0536" y="1417320"/>
            <a:ext cx="64008" cy="1353312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1600200"/>
            <a:ext cx="231343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9D98A"/>
                </a:solidFill>
                <a:latin typeface="Noto Sans CJK KR"/>
              </a:rPr>
              <a:t>6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34856" y="2240280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rollouts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2624328"/>
            <a:ext cx="2286000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Oracle 3 + Ridge 3
all 50 / 50 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971800"/>
            <a:ext cx="2697480" cy="135331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0536" y="2971800"/>
            <a:ext cx="64008" cy="1353312"/>
          </a:xfrm>
          <a:prstGeom prst="rect">
            <a:avLst/>
          </a:prstGeom>
          <a:solidFill>
            <a:srgbClr val="5B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7" y="3154680"/>
            <a:ext cx="231343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BB7FF"/>
                </a:solidFill>
                <a:latin typeface="Noto Sans CJK KR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3794760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control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4178808"/>
            <a:ext cx="2286000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timeout · iteration limit
rejection · contact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4526280"/>
            <a:ext cx="2697480" cy="1335024"/>
          </a:xfrm>
          <a:prstGeom prst="roundRect">
            <a:avLst/>
          </a:prstGeom>
          <a:solidFill>
            <a:srgbClr val="29264A"/>
          </a:solidFill>
          <a:ln w="12700">
            <a:solidFill>
              <a:srgbClr val="65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4727448"/>
            <a:ext cx="22311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F5F7FB"/>
                </a:solidFill>
                <a:latin typeface="Noto Sans CJK KR"/>
              </a:rPr>
              <a:t>Ridge도 target tracking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5230368"/>
            <a:ext cx="223113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0">
                <a:solidFill>
                  <a:srgbClr val="DDE5F0"/>
                </a:solidFill>
                <a:latin typeface="Noto Sans CJK KR"/>
              </a:rPr>
              <a:t>mean pos 0.49–0.89 cm
mean ori 1.02–2.17°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6089904"/>
            <a:ext cx="10890504" cy="320040"/>
          </a:xfrm>
          <a:prstGeom prst="round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6126480"/>
            <a:ext cx="104973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60" b="1">
                <a:solidFill>
                  <a:srgbClr val="DDE5F0"/>
                </a:solidFill>
                <a:latin typeface="Noto Sans CJK KR"/>
              </a:rPr>
              <a:t>그래프는 controller가 달성한 target tracking mean error; learned source-pose drift와 분리해 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task_tool_v2 oracle / learned rollout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Full-task 결과 ① PickPlaceCan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xArm7가 can을 집어 bin에 놓는 실제 task event로 성공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ick_place_step_001.jpg"/>
          <p:cNvPicPr>
            <a:picLocks noChangeAspect="1"/>
          </p:cNvPicPr>
          <p:nvPr/>
        </p:nvPicPr>
        <p:blipFill>
          <a:blip r:embed="rId2"/>
          <a:srcRect l="248" r="248"/>
          <a:stretch>
            <a:fillRect/>
          </a:stretch>
        </p:blipFill>
        <p:spPr>
          <a:xfrm>
            <a:off x="658368" y="1463040"/>
            <a:ext cx="3675887" cy="18470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1463040"/>
            <a:ext cx="3675887" cy="1847088"/>
          </a:xfrm>
          <a:prstGeom prst="rect">
            <a:avLst/>
          </a:prstGeom>
          <a:noFill/>
          <a:ln w="1397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2907792"/>
            <a:ext cx="1755648" cy="283464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926080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F5F7FB"/>
                </a:solidFill>
                <a:latin typeface="Noto Sans CJK KR"/>
              </a:rPr>
              <a:t>STEP 1 · approach</a:t>
            </a:r>
          </a:p>
        </p:txBody>
      </p:sp>
      <p:pic>
        <p:nvPicPr>
          <p:cNvPr id="11" name="Picture 10" descr="pick_place_step_031.jpg"/>
          <p:cNvPicPr>
            <a:picLocks noChangeAspect="1"/>
          </p:cNvPicPr>
          <p:nvPr/>
        </p:nvPicPr>
        <p:blipFill>
          <a:blip r:embed="rId3"/>
          <a:srcRect l="248" r="248"/>
          <a:stretch>
            <a:fillRect/>
          </a:stretch>
        </p:blipFill>
        <p:spPr>
          <a:xfrm>
            <a:off x="4617720" y="1463040"/>
            <a:ext cx="3675887" cy="18470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617720" y="1463040"/>
            <a:ext cx="3675887" cy="1847088"/>
          </a:xfrm>
          <a:prstGeom prst="rect">
            <a:avLst/>
          </a:prstGeom>
          <a:noFill/>
          <a:ln w="1397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27448" y="2907792"/>
            <a:ext cx="1755648" cy="283464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926080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F5F7FB"/>
                </a:solidFill>
                <a:latin typeface="Noto Sans CJK KR"/>
              </a:rPr>
              <a:t>STEP 31 · pre-grasp</a:t>
            </a:r>
          </a:p>
        </p:txBody>
      </p:sp>
      <p:pic>
        <p:nvPicPr>
          <p:cNvPr id="15" name="Picture 14" descr="pick_place_step_061.jpg"/>
          <p:cNvPicPr>
            <a:picLocks noChangeAspect="1"/>
          </p:cNvPicPr>
          <p:nvPr/>
        </p:nvPicPr>
        <p:blipFill>
          <a:blip r:embed="rId4"/>
          <a:srcRect l="248" r="248"/>
          <a:stretch>
            <a:fillRect/>
          </a:stretch>
        </p:blipFill>
        <p:spPr>
          <a:xfrm>
            <a:off x="658368" y="3675887"/>
            <a:ext cx="3675887" cy="184708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58368" y="3675887"/>
            <a:ext cx="3675887" cy="1847088"/>
          </a:xfrm>
          <a:prstGeom prst="rect">
            <a:avLst/>
          </a:prstGeom>
          <a:noFill/>
          <a:ln w="1397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5120640"/>
            <a:ext cx="1755648" cy="283464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38927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F5F7FB"/>
                </a:solidFill>
                <a:latin typeface="Noto Sans CJK KR"/>
              </a:rPr>
              <a:t>STEP 61 · grasp</a:t>
            </a:r>
          </a:p>
        </p:txBody>
      </p:sp>
      <p:pic>
        <p:nvPicPr>
          <p:cNvPr id="19" name="Picture 18" descr="pick_place_step_116.jpg"/>
          <p:cNvPicPr>
            <a:picLocks noChangeAspect="1"/>
          </p:cNvPicPr>
          <p:nvPr/>
        </p:nvPicPr>
        <p:blipFill>
          <a:blip r:embed="rId5"/>
          <a:srcRect l="248" r="248"/>
          <a:stretch>
            <a:fillRect/>
          </a:stretch>
        </p:blipFill>
        <p:spPr>
          <a:xfrm>
            <a:off x="4617720" y="3675887"/>
            <a:ext cx="3675887" cy="184708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617720" y="3675887"/>
            <a:ext cx="3675887" cy="1847088"/>
          </a:xfrm>
          <a:prstGeom prst="rect">
            <a:avLst/>
          </a:prstGeom>
          <a:noFill/>
          <a:ln w="1397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27448" y="5120640"/>
            <a:ext cx="2340864" cy="283464"/>
          </a:xfrm>
          <a:prstGeom prst="round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5138927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39D98A"/>
                </a:solidFill>
                <a:latin typeface="Noto Sans CJK KR"/>
              </a:rPr>
              <a:t>STEP 116 · TARGET SUCCESS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0496" y="1463040"/>
            <a:ext cx="3008376" cy="4059936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05672" y="1719072"/>
            <a:ext cx="932688" cy="310896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B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723643"/>
            <a:ext cx="841248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39D98A"/>
                </a:solidFill>
                <a:latin typeface="Noto Sans CJK KR"/>
              </a:rPr>
              <a:t>SEED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2212848"/>
            <a:ext cx="2231136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39D98A"/>
                </a:solidFill>
                <a:latin typeface="Noto Sans CJK KR"/>
              </a:rPr>
              <a:t>116 / 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770632"/>
            <a:ext cx="22677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policy steps until target success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337560"/>
            <a:ext cx="2249424" cy="1536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  <a:defRPr sz="1120" b="0">
                <a:solidFill>
                  <a:srgbClr val="DDE5F0"/>
                </a:solidFill>
                <a:latin typeface="Noto Sans CJK KR"/>
              </a:defRPr>
            </a:pPr>
            <a:r>
              <a:t>•  timeout 0 · iteration limit 0</a:t>
            </a:r>
          </a:p>
          <a:p>
            <a:pPr>
              <a:lnSpc>
                <a:spcPct val="104000"/>
              </a:lnSpc>
              <a:spcAft>
                <a:spcPts val="600"/>
              </a:spcAft>
              <a:defRPr sz="1120" b="0">
                <a:solidFill>
                  <a:srgbClr val="DDE5F0"/>
                </a:solidFill>
                <a:latin typeface="Noto Sans CJK KR"/>
              </a:defRPr>
            </a:pPr>
            <a:r>
              <a:t>•  safety rejection 0</a:t>
            </a:r>
          </a:p>
          <a:p>
            <a:pPr>
              <a:lnSpc>
                <a:spcPct val="104000"/>
              </a:lnSpc>
              <a:spcAft>
                <a:spcPts val="600"/>
              </a:spcAft>
              <a:defRPr sz="1120" b="1">
                <a:solidFill>
                  <a:srgbClr val="FF914D"/>
                </a:solidFill>
                <a:latin typeface="Noto Sans CJK KR"/>
              </a:defRPr>
            </a:pPr>
            <a:r>
              <a:t>•  verified-contact steps 32</a:t>
            </a:r>
          </a:p>
          <a:p>
            <a:pPr>
              <a:lnSpc>
                <a:spcPct val="104000"/>
              </a:lnSpc>
              <a:spcAft>
                <a:spcPts val="600"/>
              </a:spcAft>
              <a:defRPr sz="1120" b="0">
                <a:solidFill>
                  <a:srgbClr val="DDE5F0"/>
                </a:solidFill>
                <a:latin typeface="Noto Sans CJK KR"/>
              </a:defRPr>
            </a:pPr>
            <a:r>
              <a:t>•  mean command latency 38.6 ms</a:t>
            </a:r>
          </a:p>
          <a:p>
            <a:pPr>
              <a:lnSpc>
                <a:spcPct val="104000"/>
              </a:lnSpc>
              <a:spcAft>
                <a:spcPts val="600"/>
              </a:spcAft>
              <a:defRPr sz="1120" b="0">
                <a:solidFill>
                  <a:srgbClr val="DDE5F0"/>
                </a:solidFill>
                <a:latin typeface="Noto Sans CJK KR"/>
              </a:defRPr>
            </a:pPr>
            <a:r>
              <a:t>•  target-only early termination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96528" y="4983480"/>
            <a:ext cx="2478024" cy="356616"/>
          </a:xfrm>
          <a:prstGeom prst="roundRect">
            <a:avLst/>
          </a:prstGeom>
          <a:solidFill>
            <a:srgbClr val="2B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5047488"/>
            <a:ext cx="224942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1">
                <a:solidFill>
                  <a:srgbClr val="FFD166"/>
                </a:solidFill>
                <a:latin typeface="Noto Sans CJK KR"/>
              </a:rPr>
              <a:t>final task event &gt; pose convergence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806440"/>
            <a:ext cx="10890504" cy="457200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A7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907024"/>
            <a:ext cx="10469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60" b="1">
                <a:solidFill>
                  <a:srgbClr val="F5F7FB"/>
                </a:solidFill>
                <a:latin typeface="Noto Sans CJK KR"/>
              </a:rPr>
              <a:t>성공 시점의 큰 EE residual은 object contact / immediate task-success 규칙으로 별도 기록됨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panda_xarm_oracle_seed1_full_task.mp4 +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Full-task 결과 ②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모든 seed에서 target success까지 계속 실행; contact relaxation은 사용하지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7827264" cy="45445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ft_success_steps.png"/>
          <p:cNvPicPr>
            <a:picLocks noChangeAspect="1"/>
          </p:cNvPicPr>
          <p:nvPr/>
        </p:nvPicPr>
        <p:blipFill>
          <a:blip r:embed="rId2"/>
          <a:srcRect l="71" r="71"/>
          <a:stretch>
            <a:fillRect/>
          </a:stretch>
        </p:blipFill>
        <p:spPr>
          <a:xfrm>
            <a:off x="896112" y="1700784"/>
            <a:ext cx="7370064" cy="39684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32520" y="1417320"/>
            <a:ext cx="2816352" cy="135331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32520" y="1417320"/>
            <a:ext cx="64008" cy="1353312"/>
          </a:xfrm>
          <a:prstGeom prst="rect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8552" y="1600200"/>
            <a:ext cx="243230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914D"/>
                </a:solidFill>
                <a:latin typeface="Noto Sans CJK KR"/>
              </a:rPr>
              <a:t>4 /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240280"/>
            <a:ext cx="24048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target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624328"/>
            <a:ext cx="2404872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seeds 0 · 1 · 3 ·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971800"/>
            <a:ext cx="2816352" cy="135331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2971800"/>
            <a:ext cx="64008" cy="1353312"/>
          </a:xfrm>
          <a:prstGeom prst="rect">
            <a:avLst/>
          </a:prstGeom>
          <a:solidFill>
            <a:srgbClr val="5B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3154680"/>
            <a:ext cx="243230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BB7FF"/>
                </a:solidFill>
                <a:latin typeface="Noto Sans CJK KR"/>
              </a:rPr>
              <a:t>≤ 2.07 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94760"/>
            <a:ext cx="24048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Noto Sans CJK KR"/>
              </a:rPr>
              <a:t>maximum position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178808"/>
            <a:ext cx="2404872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6A3B7"/>
                </a:solidFill>
                <a:latin typeface="Noto Sans CJK KR"/>
              </a:rPr>
              <a:t>all four full-task rollouts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526280"/>
            <a:ext cx="2816352" cy="1435608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B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9408" y="4718304"/>
            <a:ext cx="232257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39D98A"/>
                </a:solidFill>
                <a:latin typeface="Noto Sans CJK KR"/>
              </a:rPr>
              <a:t>0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5193792"/>
            <a:ext cx="234086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80" b="0">
                <a:solidFill>
                  <a:srgbClr val="DDE5F0"/>
                </a:solidFill>
                <a:latin typeface="Noto Sans CJK KR"/>
              </a:rPr>
              <a:t>timeout · iteration limit
rejection · contact tolerance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6135624"/>
            <a:ext cx="10890504" cy="283464"/>
          </a:xfrm>
          <a:prstGeom prst="roundRect">
            <a:avLst/>
          </a:prstGeom>
          <a:solidFill>
            <a:srgbClr val="15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6158484"/>
            <a:ext cx="104973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D166"/>
                </a:solidFill>
                <a:latin typeface="Noto Sans CJK KR"/>
              </a:rPr>
              <a:t>seed 1: Panda success step 40 → xArm7 success step 41; source success가 target rollout을 조기 종료하지 않음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lift/low_dim/xarm_rollout_report.json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재현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task-aware CLI가 checkpoint에서 task·mode·native horizon을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26464"/>
            <a:ext cx="6711696" cy="4544568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682496"/>
            <a:ext cx="658368" cy="310896"/>
          </a:xfrm>
          <a:prstGeom prst="roundRect">
            <a:avLst/>
          </a:prstGeom>
          <a:solidFill>
            <a:srgbClr val="4A2B22"/>
          </a:solidFill>
          <a:ln w="12700">
            <a:solidFill>
              <a:srgbClr val="7D4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687068"/>
            <a:ext cx="566928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914D"/>
                </a:solidFill>
                <a:latin typeface="Noto Sans CJK KR"/>
              </a:rPr>
              <a:t>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57984"/>
            <a:ext cx="6144768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10" b="0">
                <a:solidFill>
                  <a:srgbClr val="D7E2EF"/>
                </a:solidFill>
                <a:latin typeface="Noto Sans Mono CJK KR"/>
              </a:rPr>
              <a:t>cd mirage
MUJOCO_GL=egl ../.venv/bin/python -m \
  mirage.benchmark.robosuite.xarm_transfer.cli rollout \
  --checkpoint mirage/models/can/low_dim/\
    model_epoch_250_PickPlaceCan_success_1.0.pth \
  --mode oracle --seeds 1 --terminate-on-success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443984"/>
            <a:ext cx="896112" cy="310896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B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4448556"/>
            <a:ext cx="80467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39D98A"/>
                </a:solidFill>
                <a:latin typeface="Noto Sans CJK KR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846320"/>
            <a:ext cx="61264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D7E2EF"/>
                </a:solidFill>
                <a:latin typeface="Noto Sans Mono CJK KR"/>
              </a:rPr>
              <a:t>PYTEST_DISABLE_PLUGIN_AUTOLOAD=1 PYTHONPATH=... \
  python -m pytest -q --import-mode=importlib \
  test_xarm_transfer_*.py test_canonical_policy_checkpoint.py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2" y="1426464"/>
            <a:ext cx="3931920" cy="2450592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72983" y="1682496"/>
            <a:ext cx="1353312" cy="310896"/>
          </a:xfrm>
          <a:prstGeom prst="roundRect">
            <a:avLst/>
          </a:prstGeom>
          <a:solidFill>
            <a:srgbClr val="17354A"/>
          </a:solidFill>
          <a:ln w="12700">
            <a:solidFill>
              <a:srgbClr val="345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18704" y="1687068"/>
            <a:ext cx="126187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5BB7FF"/>
                </a:solidFill>
                <a:latin typeface="Noto Sans CJK KR"/>
              </a:rPr>
              <a:t>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2194560"/>
            <a:ext cx="3246120" cy="1444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110" b="0">
                <a:solidFill>
                  <a:srgbClr val="DDE5F0"/>
                </a:solidFill>
                <a:latin typeface="Noto Sans CJK KR"/>
              </a:defRPr>
            </a:pPr>
            <a:r>
              <a:t>•  Ubuntu 22.04.5 · Python 3.10.12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10" b="0">
                <a:solidFill>
                  <a:srgbClr val="DDE5F0"/>
                </a:solidFill>
                <a:latin typeface="Noto Sans CJK KR"/>
              </a:defRPr>
            </a:pPr>
            <a:r>
              <a:t>•  Robosuite 1.4.1 · MuJoCo 2.3.2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10" b="0">
                <a:solidFill>
                  <a:srgbClr val="DDE5F0"/>
                </a:solidFill>
                <a:latin typeface="Noto Sans CJK KR"/>
              </a:defRPr>
            </a:pPr>
            <a:r>
              <a:t>•  ROS 2 Humble installed, unused in rollout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10" b="0">
                <a:solidFill>
                  <a:srgbClr val="DDE5F0"/>
                </a:solidFill>
                <a:latin typeface="Noto Sans CJK KR"/>
              </a:defRPr>
            </a:pPr>
            <a:r>
              <a:t>•  RTX 5060 Laptop GPU · EGL rendering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10" b="0">
                <a:solidFill>
                  <a:srgbClr val="DDE5F0"/>
                </a:solidFill>
                <a:latin typeface="Noto Sans CJK KR"/>
              </a:defRPr>
            </a:pPr>
            <a:r>
              <a:t>•  branch: agent/xarm7-development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110" b="0">
                <a:solidFill>
                  <a:srgbClr val="96A3B7"/>
                </a:solidFill>
                <a:latin typeface="Noto Sans CJK KR"/>
              </a:defRPr>
            </a:pPr>
            <a:r>
              <a:t>•  HEAD: 4e4429e + local working tree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6952" y="4123944"/>
            <a:ext cx="3931920" cy="184708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C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72983" y="4379976"/>
            <a:ext cx="1170432" cy="310896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B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4384548"/>
            <a:ext cx="107899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39D98A"/>
                </a:solidFill>
                <a:latin typeface="Noto Sans CJK KR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882896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39D98A"/>
                </a:solidFill>
                <a:latin typeface="Noto Sans CJK KR"/>
              </a:rPr>
              <a:t>87 passed</a:t>
            </a:r>
            <a:r>
              <a:rPr sz="2200" b="0">
                <a:solidFill>
                  <a:srgbClr val="96A3B7"/>
                </a:solidFill>
                <a:latin typeface="Noto Sans CJK KR"/>
              </a:rPr>
              <a:t>  in 70.81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5394960"/>
            <a:ext cx="313639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DE5F0"/>
                </a:solidFill>
                <a:latin typeface="Noto Sans CJK KR"/>
              </a:rPr>
              <a:t>current working tree · 2026-08-10
results stay under ignored results/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source: CLI README + local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875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Noto Sans CJK KR"/>
              </a:rPr>
              <a:t>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6A3B7"/>
                </a:solidFill>
                <a:latin typeface="Noto Sans CJK KR"/>
              </a:rPr>
              <a:t>현재 성과와 경계 조건을 함께 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347472"/>
            <a:ext cx="694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F914D"/>
                </a:solidFill>
                <a:latin typeface="Noto Sans CJK KR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161288"/>
            <a:ext cx="11009376" cy="16459"/>
          </a:xfrm>
          <a:prstGeom prst="rect">
            <a:avLst/>
          </a:prstGeom>
          <a:solidFill>
            <a:srgbClr val="2C3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17904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39D98A"/>
                </a:solidFill>
                <a:latin typeface="Noto Sans CJK KR"/>
              </a:rPr>
              <a:t>현재 확보한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675887" cy="2606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1300"/>
              </a:spcAft>
              <a:defRPr sz="1420" b="1">
                <a:solidFill>
                  <a:srgbClr val="F5F7FB"/>
                </a:solidFill>
                <a:latin typeface="Noto Sans CJK KR"/>
              </a:defRPr>
            </a:pPr>
            <a:r>
              <a:t>•  Panda policy → xArm7 control의 명시적 contract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420" b="1">
                <a:solidFill>
                  <a:srgbClr val="F5F7FB"/>
                </a:solidFill>
                <a:latin typeface="Noto Sans CJK KR"/>
              </a:defRPr>
            </a:pPr>
            <a:r>
              <a:t>•  task/world와 tool-frame을 분리한 transform v2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420" b="1">
                <a:solidFill>
                  <a:srgbClr val="F5F7FB"/>
                </a:solidFill>
                <a:latin typeface="Noto Sans CJK KR"/>
              </a:defRPr>
            </a:pPr>
            <a:r>
              <a:t>•  PickPlaceCan 1/1, Lift 4/4 target success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420" b="1">
                <a:solidFill>
                  <a:srgbClr val="F5F7FB"/>
                </a:solidFill>
                <a:latin typeface="Noto Sans CJK KR"/>
              </a:defRPr>
            </a:pPr>
            <a:r>
              <a:t>•  Oracle/Ridge 50-step 6/6 completion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420" b="1">
                <a:solidFill>
                  <a:srgbClr val="F5F7FB"/>
                </a:solidFill>
                <a:latin typeface="Noto Sans CJK KR"/>
              </a:defRPr>
            </a:pPr>
            <a:r>
              <a:t>•  87개 회귀·통합 테스트 통과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51790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FFD166"/>
                </a:solidFill>
                <a:latin typeface="Noto Sans CJK KR"/>
              </a:rPr>
              <a:t>아직 주장하지 않는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75688"/>
            <a:ext cx="3026664" cy="2606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1300"/>
              </a:spcAft>
              <a:defRPr sz="1420" b="0">
                <a:solidFill>
                  <a:srgbClr val="DDE5F0"/>
                </a:solidFill>
                <a:latin typeface="Noto Sans CJK KR"/>
              </a:defRPr>
            </a:pPr>
            <a:r>
              <a:t>•  실제 xArm7 hardware 성공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420" b="0">
                <a:solidFill>
                  <a:srgbClr val="DDE5F0"/>
                </a:solidFill>
                <a:latin typeface="Noto Sans CJK KR"/>
              </a:defRPr>
            </a:pPr>
            <a:r>
              <a:t>•  real-world calibration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420" b="0">
                <a:solidFill>
                  <a:srgbClr val="DDE5F0"/>
                </a:solidFill>
                <a:latin typeface="Noto Sans CJK KR"/>
              </a:defRPr>
            </a:pPr>
            <a:r>
              <a:t>•  image observation runtime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420" b="0">
                <a:solidFill>
                  <a:srgbClr val="DDE5F0"/>
                </a:solidFill>
                <a:latin typeface="Noto Sans CJK KR"/>
              </a:defRPr>
            </a:pPr>
            <a:r>
              <a:t>•  Lift learned Ridge model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420" b="0">
                <a:solidFill>
                  <a:srgbClr val="DDE5F0"/>
                </a:solidFill>
                <a:latin typeface="Noto Sans CJK KR"/>
              </a:defRPr>
            </a:pPr>
            <a:r>
              <a:t>•  Stack/Square/Assembly 지원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730752" cy="4297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4B3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01583" y="1755648"/>
            <a:ext cx="713232" cy="310896"/>
          </a:xfrm>
          <a:prstGeom prst="roundRect">
            <a:avLst/>
          </a:prstGeom>
          <a:solidFill>
            <a:srgbClr val="4A2B22"/>
          </a:solidFill>
          <a:ln w="12700">
            <a:solidFill>
              <a:srgbClr val="7D4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760219"/>
            <a:ext cx="62179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914D"/>
                </a:solidFill>
                <a:latin typeface="Noto Sans CJK KR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2331720"/>
            <a:ext cx="2953512" cy="2587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4000"/>
              </a:lnSpc>
              <a:spcAft>
                <a:spcPts val="1300"/>
              </a:spcAft>
              <a:defRPr sz="1360" b="1">
                <a:solidFill>
                  <a:srgbClr val="F5F7FB"/>
                </a:solidFill>
                <a:latin typeface="Noto Sans CJK KR"/>
              </a:defRPr>
            </a:pPr>
            <a:r>
              <a:t>1. real calibration 경로를 별도 구현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360" b="1">
                <a:solidFill>
                  <a:srgbClr val="F5F7FB"/>
                </a:solidFill>
                <a:latin typeface="Noto Sans CJK KR"/>
              </a:defRPr>
            </a:pPr>
            <a:r>
              <a:t>2. low-speed fake → real safety gate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360" b="1">
                <a:solidFill>
                  <a:srgbClr val="F5F7FB"/>
                </a:solidFill>
                <a:latin typeface="Noto Sans CJK KR"/>
              </a:defRPr>
            </a:pPr>
            <a:r>
              <a:t>3. image observation / cross-painting 연결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360" b="1">
                <a:solidFill>
                  <a:srgbClr val="F5F7FB"/>
                </a:solidFill>
                <a:latin typeface="Noto Sans CJK KR"/>
              </a:defRPr>
            </a:pPr>
            <a:r>
              <a:t>4. Lift용 dynamics dataset·Ridge 학습</a:t>
            </a:r>
          </a:p>
          <a:p>
            <a:pPr>
              <a:lnSpc>
                <a:spcPct val="104000"/>
              </a:lnSpc>
              <a:spcAft>
                <a:spcPts val="1300"/>
              </a:spcAft>
              <a:defRPr sz="1360" b="1">
                <a:solidFill>
                  <a:srgbClr val="F5F7FB"/>
                </a:solidFill>
                <a:latin typeface="Noto Sans CJK KR"/>
              </a:defRPr>
            </a:pPr>
            <a:r>
              <a:t>5. multi-seed PickPlaceCan 확대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5980176"/>
            <a:ext cx="10872216" cy="466344"/>
          </a:xfrm>
          <a:prstGeom prst="roundRect">
            <a:avLst/>
          </a:prstGeom>
          <a:solidFill>
            <a:srgbClr val="173F35"/>
          </a:solidFill>
          <a:ln w="12700">
            <a:solidFill>
              <a:srgbClr val="2A7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6080760"/>
            <a:ext cx="10442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60" b="1">
                <a:solidFill>
                  <a:srgbClr val="F5F7FB"/>
                </a:solidFill>
                <a:latin typeface="Noto Sans CJK KR"/>
              </a:rPr>
              <a:t>Takeaway  ·  embodiment 차이는 pose contract로 흡수하고, 안전·성공 판정은 target에서 닫는다.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656539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6F7D93"/>
                </a:solidFill>
                <a:latin typeface="Noto Sans CJK KR"/>
              </a:rPr>
              <a:t>Local working tree · 2026-08-10 · SIMULATION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6565392"/>
            <a:ext cx="5989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F7D93"/>
                </a:solidFill>
                <a:latin typeface="Noto Sans CJK KR"/>
              </a:rPr>
              <a:t>Mirage xArm7 simulation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to xArm7 Simulation Policy Transfer</dc:title>
  <dc:subject>Current Mirage xArm7 experiment setup and validation</dc:subject>
  <dc:creator>Mirage experiment deck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